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layfair Display Bold" charset="1" panose="00000000000000000000"/>
      <p:regular r:id="rId19"/>
    </p:embeddedFont>
    <p:embeddedFont>
      <p:font typeface="Playfair Display" charset="1" panose="00000000000000000000"/>
      <p:regular r:id="rId20"/>
    </p:embeddedFont>
    <p:embeddedFont>
      <p:font typeface="Playfair Display Bold Italic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563121"/>
          </a:xfrm>
          <a:custGeom>
            <a:avLst/>
            <a:gdLst/>
            <a:ahLst/>
            <a:cxnLst/>
            <a:rect r="r" b="b" t="t" l="l"/>
            <a:pathLst>
              <a:path h="10563121" w="18288000">
                <a:moveTo>
                  <a:pt x="0" y="0"/>
                </a:moveTo>
                <a:lnTo>
                  <a:pt x="18288000" y="0"/>
                </a:lnTo>
                <a:lnTo>
                  <a:pt x="18288000" y="10563121"/>
                </a:lnTo>
                <a:lnTo>
                  <a:pt x="0" y="1056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2340" y="7297276"/>
            <a:ext cx="13213598" cy="161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2"/>
              </a:lnSpc>
            </a:pPr>
            <a:r>
              <a:rPr lang="en-US" sz="3087" b="true">
                <a:solidFill>
                  <a:srgbClr val="FDD83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Батырхан Серік Кермақынұлы</a:t>
            </a:r>
            <a:r>
              <a:rPr lang="en-US" sz="3087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м.т.н., старший преподаватель «Школы цифровых технологий»</a:t>
            </a:r>
          </a:p>
          <a:p>
            <a:pPr algn="l">
              <a:lnSpc>
                <a:spcPts val="432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307933" y="3054609"/>
            <a:ext cx="13983863" cy="208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АУТЕНТИФИКАЦИЯ И АВТОРИЗАЦИЯ В МОБИЛЬНЫХ И ВЕБ-ПРИЛОЖЕНИЯХ.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03605" y="1696360"/>
            <a:ext cx="3920525" cy="7663741"/>
          </a:xfrm>
          <a:custGeom>
            <a:avLst/>
            <a:gdLst/>
            <a:ahLst/>
            <a:cxnLst/>
            <a:rect r="r" b="b" t="t" l="l"/>
            <a:pathLst>
              <a:path h="7663741" w="3920525">
                <a:moveTo>
                  <a:pt x="0" y="0"/>
                </a:moveTo>
                <a:lnTo>
                  <a:pt x="3920525" y="0"/>
                </a:lnTo>
                <a:lnTo>
                  <a:pt x="3920525" y="7663740"/>
                </a:lnTo>
                <a:lnTo>
                  <a:pt x="0" y="7663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7421" y="8401960"/>
            <a:ext cx="1275837" cy="1275837"/>
          </a:xfrm>
          <a:custGeom>
            <a:avLst/>
            <a:gdLst/>
            <a:ahLst/>
            <a:cxnLst/>
            <a:rect r="r" b="b" t="t" l="l"/>
            <a:pathLst>
              <a:path h="1275837" w="1275837">
                <a:moveTo>
                  <a:pt x="0" y="0"/>
                </a:moveTo>
                <a:lnTo>
                  <a:pt x="1275838" y="0"/>
                </a:lnTo>
                <a:lnTo>
                  <a:pt x="1275838" y="1275837"/>
                </a:lnTo>
                <a:lnTo>
                  <a:pt x="0" y="12758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5648" y="8401960"/>
            <a:ext cx="1275837" cy="1275837"/>
          </a:xfrm>
          <a:custGeom>
            <a:avLst/>
            <a:gdLst/>
            <a:ahLst/>
            <a:cxnLst/>
            <a:rect r="r" b="b" t="t" l="l"/>
            <a:pathLst>
              <a:path h="1275837" w="1275837">
                <a:moveTo>
                  <a:pt x="0" y="0"/>
                </a:moveTo>
                <a:lnTo>
                  <a:pt x="1275838" y="0"/>
                </a:lnTo>
                <a:lnTo>
                  <a:pt x="1275838" y="1275837"/>
                </a:lnTo>
                <a:lnTo>
                  <a:pt x="0" y="1275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89029" y="8440457"/>
            <a:ext cx="1237340" cy="1237340"/>
          </a:xfrm>
          <a:custGeom>
            <a:avLst/>
            <a:gdLst/>
            <a:ahLst/>
            <a:cxnLst/>
            <a:rect r="r" b="b" t="t" l="l"/>
            <a:pathLst>
              <a:path h="1237340" w="1237340">
                <a:moveTo>
                  <a:pt x="0" y="0"/>
                </a:moveTo>
                <a:lnTo>
                  <a:pt x="1237340" y="0"/>
                </a:lnTo>
                <a:lnTo>
                  <a:pt x="1237340" y="1237340"/>
                </a:lnTo>
                <a:lnTo>
                  <a:pt x="0" y="123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639210"/>
            <a:ext cx="11866391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Идентификация</a:t>
            </a: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— это процесс, когда информационная система, например социальная сеть или интернет-магазин, определяет, существует конкретный пользователь или нет. Делает она это с помощью идентификатора.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Идентификатором может быть: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логин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электронная почта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номер телефона или другой признак,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который есть только у одного пользователя. Идентификатор позволяет сайту или приложению отличить конкретного человека от других людей.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ИДЕНТИФИКАЦИЯ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935" y="1696360"/>
            <a:ext cx="3999553" cy="8072782"/>
          </a:xfrm>
          <a:custGeom>
            <a:avLst/>
            <a:gdLst/>
            <a:ahLst/>
            <a:cxnLst/>
            <a:rect r="r" b="b" t="t" l="l"/>
            <a:pathLst>
              <a:path h="8072782" w="3999553">
                <a:moveTo>
                  <a:pt x="0" y="0"/>
                </a:moveTo>
                <a:lnTo>
                  <a:pt x="3999553" y="0"/>
                </a:lnTo>
                <a:lnTo>
                  <a:pt x="3999553" y="8072782"/>
                </a:lnTo>
                <a:lnTo>
                  <a:pt x="0" y="8072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39210"/>
            <a:ext cx="11866391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Аутентификация — </a:t>
            </a: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это процесс, когда пользователь вводит ключ, например пароль или пин-код, подтверждая своё право на доступ к той или иной учётной записи и хранящейся в ней информации.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Аутентификация бывает одно-, двух- и трёхфакторной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АУТЕНТИФИКАЦИЯ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17045"/>
            <a:ext cx="11866391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Однофакторная аутентификация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требует подтверждения только одним способом — например, с помощью пароля. Она встречается чаще всего.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Двухфакторная аутентификация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используется в системах, которые хранят важные или личные данные. Например, в банковских приложениях или в социальных сетях. При входе в соцсеть у пользователя могут попросить не только пароль, но и другую информацию — код из СМС или биометрические данные.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Трёхфакторная аутентификация.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Третьим фактором, позволяющим подтвердить личность, могут быть электронные ключи доступа. Электронный ключ хранится на специальном USB-накопителе и подключается в момент подтверждения доступа.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935" y="1696360"/>
            <a:ext cx="4015456" cy="7979563"/>
          </a:xfrm>
          <a:custGeom>
            <a:avLst/>
            <a:gdLst/>
            <a:ahLst/>
            <a:cxnLst/>
            <a:rect r="r" b="b" t="t" l="l"/>
            <a:pathLst>
              <a:path h="7979563" w="4015456">
                <a:moveTo>
                  <a:pt x="0" y="0"/>
                </a:moveTo>
                <a:lnTo>
                  <a:pt x="4015456" y="0"/>
                </a:lnTo>
                <a:lnTo>
                  <a:pt x="4015456" y="7979563"/>
                </a:lnTo>
                <a:lnTo>
                  <a:pt x="0" y="7979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39210"/>
            <a:ext cx="12419235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Авторизация </a:t>
            </a: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определяет набор привилегий и прав, доступных конкретному пользователю. Например, открывает доступ к просмотру и отправке электронных писем.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АВТОРИЗАЦИЯ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77535"/>
            <a:ext cx="11786219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Пример: После входа в онлайн-банкинг вам разрешают доступ только к вашим счетам, но не к чужим.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50515"/>
            <a:ext cx="605314" cy="539280"/>
          </a:xfrm>
          <a:custGeom>
            <a:avLst/>
            <a:gdLst/>
            <a:ahLst/>
            <a:cxnLst/>
            <a:rect r="r" b="b" t="t" l="l"/>
            <a:pathLst>
              <a:path h="539280" w="605314">
                <a:moveTo>
                  <a:pt x="0" y="0"/>
                </a:moveTo>
                <a:lnTo>
                  <a:pt x="605314" y="0"/>
                </a:lnTo>
                <a:lnTo>
                  <a:pt x="605314" y="539279"/>
                </a:lnTo>
                <a:lnTo>
                  <a:pt x="0" y="5392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700610"/>
            <a:ext cx="503048" cy="471951"/>
          </a:xfrm>
          <a:custGeom>
            <a:avLst/>
            <a:gdLst/>
            <a:ahLst/>
            <a:cxnLst/>
            <a:rect r="r" b="b" t="t" l="l"/>
            <a:pathLst>
              <a:path h="471951" w="503048">
                <a:moveTo>
                  <a:pt x="0" y="0"/>
                </a:moveTo>
                <a:lnTo>
                  <a:pt x="503048" y="0"/>
                </a:lnTo>
                <a:lnTo>
                  <a:pt x="503048" y="471951"/>
                </a:lnTo>
                <a:lnTo>
                  <a:pt x="0" y="471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59836" y="1755430"/>
            <a:ext cx="605314" cy="539280"/>
          </a:xfrm>
          <a:custGeom>
            <a:avLst/>
            <a:gdLst/>
            <a:ahLst/>
            <a:cxnLst/>
            <a:rect r="r" b="b" t="t" l="l"/>
            <a:pathLst>
              <a:path h="539280" w="605314">
                <a:moveTo>
                  <a:pt x="0" y="0"/>
                </a:moveTo>
                <a:lnTo>
                  <a:pt x="605314" y="0"/>
                </a:lnTo>
                <a:lnTo>
                  <a:pt x="605314" y="539280"/>
                </a:lnTo>
                <a:lnTo>
                  <a:pt x="0" y="539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59836" y="2638498"/>
            <a:ext cx="503048" cy="471951"/>
          </a:xfrm>
          <a:custGeom>
            <a:avLst/>
            <a:gdLst/>
            <a:ahLst/>
            <a:cxnLst/>
            <a:rect r="r" b="b" t="t" l="l"/>
            <a:pathLst>
              <a:path h="471951" w="503048">
                <a:moveTo>
                  <a:pt x="0" y="0"/>
                </a:moveTo>
                <a:lnTo>
                  <a:pt x="503049" y="0"/>
                </a:lnTo>
                <a:lnTo>
                  <a:pt x="503049" y="471951"/>
                </a:lnTo>
                <a:lnTo>
                  <a:pt x="0" y="471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6324" y="4528286"/>
            <a:ext cx="5777442" cy="4903604"/>
          </a:xfrm>
          <a:custGeom>
            <a:avLst/>
            <a:gdLst/>
            <a:ahLst/>
            <a:cxnLst/>
            <a:rect r="r" b="b" t="t" l="l"/>
            <a:pathLst>
              <a:path h="4903604" w="5777442">
                <a:moveTo>
                  <a:pt x="0" y="0"/>
                </a:moveTo>
                <a:lnTo>
                  <a:pt x="5777442" y="0"/>
                </a:lnTo>
                <a:lnTo>
                  <a:pt x="5777442" y="4903604"/>
                </a:lnTo>
                <a:lnTo>
                  <a:pt x="0" y="4903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СПОСОБЫ ХРАНЕНИЯ ПАРОЛЯ В БД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34527" y="1845740"/>
            <a:ext cx="2379911" cy="45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1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 открытом виде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65664" y="1746432"/>
            <a:ext cx="2019523" cy="45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1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Хэш от пароля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34527" y="2657947"/>
            <a:ext cx="3444329" cy="45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1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Хэш с уникальной солью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65664" y="2624011"/>
            <a:ext cx="3741613" cy="45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1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Алгоритмы (bcrypt, argon2)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544036"/>
            <a:ext cx="1646215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Хэширование 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– это процесс преобразования данных (например, паролей) в фиксированную строку символов с использованием хэш-функций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671161"/>
            <a:ext cx="7951955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Особенности: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Хэш-функции необратимы (нельзя восстановить исходные данные).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Для усиления безопасности применяются соли (добавление случайных данных к паролю перед хэшированием).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89904" y="1742357"/>
            <a:ext cx="14200859" cy="7987983"/>
          </a:xfrm>
          <a:custGeom>
            <a:avLst/>
            <a:gdLst/>
            <a:ahLst/>
            <a:cxnLst/>
            <a:rect r="r" b="b" t="t" l="l"/>
            <a:pathLst>
              <a:path h="7987983" w="14200859">
                <a:moveTo>
                  <a:pt x="0" y="0"/>
                </a:moveTo>
                <a:lnTo>
                  <a:pt x="14200859" y="0"/>
                </a:lnTo>
                <a:lnTo>
                  <a:pt x="14200859" y="7987984"/>
                </a:lnTo>
                <a:lnTo>
                  <a:pt x="0" y="798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АЛГОРИТМЫ ХЭШИРОВАНИЕ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4565" y="3041506"/>
            <a:ext cx="16074735" cy="355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Преимущества: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Высокая безопасность: HMAC обеспечивает аутентификацию и целостность данных, что делает его надежным инструментом в кибербезопасности.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Гибкость: Ты можешь использовать различные хеш-функции в зависимости от требований безопасности.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Простота интеграции: HMAC легко интегрировать в существующие системы без необходимости кардинальных изменений.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500662" y="7038078"/>
            <a:ext cx="6754172" cy="2564628"/>
          </a:xfrm>
          <a:custGeom>
            <a:avLst/>
            <a:gdLst/>
            <a:ahLst/>
            <a:cxnLst/>
            <a:rect r="r" b="b" t="t" l="l"/>
            <a:pathLst>
              <a:path h="2564628" w="6754172">
                <a:moveTo>
                  <a:pt x="0" y="0"/>
                </a:moveTo>
                <a:lnTo>
                  <a:pt x="6754172" y="0"/>
                </a:lnTo>
                <a:lnTo>
                  <a:pt x="6754172" y="2564627"/>
                </a:lnTo>
                <a:lnTo>
                  <a:pt x="0" y="2564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HMAC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4565" y="1495529"/>
            <a:ext cx="16462157" cy="149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HMAC – 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это механизм, который обеспечивает двойную защиту твоих данных: он проверяет, что информация не была изменена в пути, и подтверждает, что сообщение пришло именно от того, кто утверждает, что отправил его. Это достигается за счет использования секретного ключа и хеш-функций.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31206" y="5143500"/>
            <a:ext cx="11301259" cy="3856555"/>
          </a:xfrm>
          <a:custGeom>
            <a:avLst/>
            <a:gdLst/>
            <a:ahLst/>
            <a:cxnLst/>
            <a:rect r="r" b="b" t="t" l="l"/>
            <a:pathLst>
              <a:path h="3856555" w="11301259">
                <a:moveTo>
                  <a:pt x="0" y="0"/>
                </a:moveTo>
                <a:lnTo>
                  <a:pt x="11301258" y="0"/>
                </a:lnTo>
                <a:lnTo>
                  <a:pt x="11301258" y="3856555"/>
                </a:lnTo>
                <a:lnTo>
                  <a:pt x="0" y="3856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BCRYPT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756" y="1540062"/>
            <a:ext cx="16462157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Bcrypt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– это алгоритм хэширования, разработанный специально для защиты паролей.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0756" y="2229037"/>
            <a:ext cx="16208544" cy="252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Особенности: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Медленный, чтобы усложнить массовый подбор.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Автоматически добавляет соль.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Позволяет регулировать сложность (cost factor), что полезно при увеличении вычислительных мощностей.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23508" y="5590105"/>
            <a:ext cx="6792443" cy="4075466"/>
          </a:xfrm>
          <a:custGeom>
            <a:avLst/>
            <a:gdLst/>
            <a:ahLst/>
            <a:cxnLst/>
            <a:rect r="r" b="b" t="t" l="l"/>
            <a:pathLst>
              <a:path h="4075466" w="6792443">
                <a:moveTo>
                  <a:pt x="0" y="0"/>
                </a:moveTo>
                <a:lnTo>
                  <a:pt x="6792442" y="0"/>
                </a:lnTo>
                <a:lnTo>
                  <a:pt x="6792442" y="4075466"/>
                </a:lnTo>
                <a:lnTo>
                  <a:pt x="0" y="4075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9904" y="5866905"/>
            <a:ext cx="5777438" cy="3798666"/>
          </a:xfrm>
          <a:custGeom>
            <a:avLst/>
            <a:gdLst/>
            <a:ahLst/>
            <a:cxnLst/>
            <a:rect r="r" b="b" t="t" l="l"/>
            <a:pathLst>
              <a:path h="3798666" w="5777438">
                <a:moveTo>
                  <a:pt x="0" y="0"/>
                </a:moveTo>
                <a:lnTo>
                  <a:pt x="5777438" y="0"/>
                </a:lnTo>
                <a:lnTo>
                  <a:pt x="5777438" y="3798666"/>
                </a:lnTo>
                <a:lnTo>
                  <a:pt x="0" y="3798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API GATEWAY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0756" y="1540062"/>
            <a:ext cx="16462157" cy="149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API Gateway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— это служба для управления запросами к API веб-сервисов и приложений. Шлюз служит посредником между пользователем и онлайн-сервисами, предоставляя единую точку входа и направляя запросы от клиентов туда, куда нужно.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0756" y="3104096"/>
            <a:ext cx="16208544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Каким д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олжен быть API Gateway?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Во-первых, у него должна быть единая точка для работы фронта. 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Во-вторых, за счет того, что это единая точка, мы скрываем реализацию бэкенда. Никто уже не знает, какая у нас структура микросервисов, а это плюс к безопасности. 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В-третьих, API Gateway должен быть максимально быстрым, потому что все запросы идут через него.</a:t>
            </a:r>
          </a:p>
          <a:p>
            <a:pPr algn="l">
              <a:lnSpc>
                <a:spcPts val="40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4615" y="5657850"/>
            <a:ext cx="7228299" cy="3541866"/>
          </a:xfrm>
          <a:custGeom>
            <a:avLst/>
            <a:gdLst/>
            <a:ahLst/>
            <a:cxnLst/>
            <a:rect r="r" b="b" t="t" l="l"/>
            <a:pathLst>
              <a:path h="3541866" w="7228299">
                <a:moveTo>
                  <a:pt x="0" y="0"/>
                </a:moveTo>
                <a:lnTo>
                  <a:pt x="7228299" y="0"/>
                </a:lnTo>
                <a:lnTo>
                  <a:pt x="7228299" y="3541866"/>
                </a:lnTo>
                <a:lnTo>
                  <a:pt x="0" y="3541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SIGN-TO-SIGN. JWT ТОКЕН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756" y="1540062"/>
            <a:ext cx="16462157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Sign-to-Sign (STS) – 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это процесс подписания данных с использованием цифровой подписи.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0756" y="2229037"/>
            <a:ext cx="16208544" cy="201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И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спользуется в авторизации, чтобы гарантировать: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Целостность данных: Данные не были изменены.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Подлинность: Только владелец приватного ключа мог подписать данные.</a:t>
            </a:r>
          </a:p>
          <a:p>
            <a:pPr algn="l">
              <a:lnSpc>
                <a:spcPts val="40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50756" y="4089400"/>
            <a:ext cx="16208544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JSON Web Token (JWT)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— это JSON объект, который определен в открытом стандарте RFC 7519. Он считается одним из безопасных способов передачи информации между двумя участниками. </a:t>
            </a:r>
          </a:p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Для его создания необходимо определить: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заголовок (header) с общей информацией по токену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полезные данные (payload), такие как id пользователя, его роль и т.д. 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подписи (signature).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90335" y="4599262"/>
            <a:ext cx="9619853" cy="5687738"/>
          </a:xfrm>
          <a:custGeom>
            <a:avLst/>
            <a:gdLst/>
            <a:ahLst/>
            <a:cxnLst/>
            <a:rect r="r" b="b" t="t" l="l"/>
            <a:pathLst>
              <a:path h="5687738" w="9619853">
                <a:moveTo>
                  <a:pt x="0" y="0"/>
                </a:moveTo>
                <a:lnTo>
                  <a:pt x="9619854" y="0"/>
                </a:lnTo>
                <a:lnTo>
                  <a:pt x="9619854" y="5687738"/>
                </a:lnTo>
                <a:lnTo>
                  <a:pt x="0" y="5687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OAUTH 2.0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756" y="1540062"/>
            <a:ext cx="1646215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OAuth 2.0 - 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фреймворк для делегированной авторизации. Пример: Вы входите в сторонний сервис с помощью Google или Facebook.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0756" y="2616200"/>
            <a:ext cx="16208544" cy="252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OAuth 2.0 выдает два вида токенов: 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access (тот же самый токен) 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refresh (используется для обновления access). </a:t>
            </a:r>
          </a:p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Access имеет короткий период жизни, а refresh — длинный (допустим, месяц)</a:t>
            </a:r>
          </a:p>
          <a:p>
            <a:pPr algn="l">
              <a:lnSpc>
                <a:spcPts val="40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0756" y="2616200"/>
            <a:ext cx="16208544" cy="509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Основные функции: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Хранение информации о пользователях, устройствах, группах.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Управление политиками доступа.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Централизованное управление аутентификацией (с использованием Kerberos).</a:t>
            </a:r>
          </a:p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Применение: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 корпоративных сетях для управления доступом сотрудников.</a:t>
            </a:r>
          </a:p>
          <a:p>
            <a:pPr algn="l">
              <a:lnSpc>
                <a:spcPts val="4099"/>
              </a:lnSpc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Особенности: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Легко интегрируется с Windows-средой.</a:t>
            </a:r>
          </a:p>
          <a:p>
            <a:pPr algn="l" marL="539749" indent="-269875" lvl="1">
              <a:lnSpc>
                <a:spcPts val="40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Поддерживает группы, роли, политики и аутентификацию.</a:t>
            </a:r>
          </a:p>
          <a:p>
            <a:pPr algn="l">
              <a:lnSpc>
                <a:spcPts val="40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561498" y="5683762"/>
            <a:ext cx="6116711" cy="3413598"/>
          </a:xfrm>
          <a:custGeom>
            <a:avLst/>
            <a:gdLst/>
            <a:ahLst/>
            <a:cxnLst/>
            <a:rect r="r" b="b" t="t" l="l"/>
            <a:pathLst>
              <a:path h="3413598" w="6116711">
                <a:moveTo>
                  <a:pt x="0" y="0"/>
                </a:moveTo>
                <a:lnTo>
                  <a:pt x="6116711" y="0"/>
                </a:lnTo>
                <a:lnTo>
                  <a:pt x="6116711" y="3413598"/>
                </a:lnTo>
                <a:lnTo>
                  <a:pt x="0" y="3413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9904" y="315845"/>
            <a:ext cx="13983863" cy="10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0"/>
              </a:lnSpc>
            </a:pPr>
            <a:r>
              <a:rPr lang="en-US" b="true" sz="5231">
                <a:solidFill>
                  <a:srgbClr val="8F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ACTIVE DIRECTORY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0756" y="1540062"/>
            <a:ext cx="16462157" cy="98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Active Directory –</a:t>
            </a: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это служба каталогов от Microsoft для управления доступом к ресурсам и идентификации пользователей в сети.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63670" cy="10655459"/>
          </a:xfrm>
          <a:custGeom>
            <a:avLst/>
            <a:gdLst/>
            <a:ahLst/>
            <a:cxnLst/>
            <a:rect r="r" b="b" t="t" l="l"/>
            <a:pathLst>
              <a:path h="10655459" w="18563670">
                <a:moveTo>
                  <a:pt x="0" y="0"/>
                </a:moveTo>
                <a:lnTo>
                  <a:pt x="18563670" y="0"/>
                </a:lnTo>
                <a:lnTo>
                  <a:pt x="18563670" y="10655459"/>
                </a:lnTo>
                <a:lnTo>
                  <a:pt x="0" y="10655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4209" y="3592677"/>
            <a:ext cx="14315252" cy="155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64"/>
              </a:lnSpc>
            </a:pPr>
            <a:r>
              <a:rPr lang="en-US" b="true" sz="8027" i="true">
                <a:solidFill>
                  <a:srgbClr val="8F0000"/>
                </a:solidFill>
                <a:latin typeface="Playfair Display Bold Italics"/>
                <a:ea typeface="Playfair Display Bold Italics"/>
                <a:cs typeface="Playfair Display Bold Italics"/>
                <a:sym typeface="Playfair Display Bold Italics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DAGcwhaTB4s</dc:identifier>
  <dcterms:modified xsi:type="dcterms:W3CDTF">2011-08-01T06:04:30Z</dcterms:modified>
  <cp:revision>1</cp:revision>
  <dc:title>Аутентификация и авторизация</dc:title>
</cp:coreProperties>
</file>